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F9565F-134D-D139-E330-85D70F3B52A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15700" y="6672580"/>
            <a:ext cx="83343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financial-co-pilot--source-579861796088.us-west2.run.app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FINANCIAL ANALYST CO-PILOT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737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882F6"/>
                </a:solidFill>
                <a:latin typeface="Calibri"/>
              </a:defRPr>
            </a:pPr>
            <a:r>
              <a:t>AI-Powered Institutional-Grade Financial Analysis for Everyone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560320"/>
            <a:ext cx="3931920" cy="36576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Multi-Agent System  |  Gemini 2.0 Flash  |  Real-Time Data  |  Streamlit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3840480"/>
            <a:ext cx="2011680" cy="1005840"/>
          </a:xfrm>
          <a:prstGeom prst="round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 Specialized</a:t>
            </a:r>
            <a:br/>
            <a:r>
              <a:t>AI Agents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3840480"/>
            <a:ext cx="2011680" cy="1005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Live SEC +</a:t>
            </a:r>
            <a:br/>
            <a:r>
              <a:t>Market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840480"/>
            <a:ext cx="2011680" cy="1005840"/>
          </a:xfrm>
          <a:prstGeom prst="round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Investment Thesis</a:t>
            </a:r>
            <a:br/>
            <a:r>
              <a:t>Generator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3840480"/>
            <a:ext cx="2011680" cy="10058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PDF Multimodal</a:t>
            </a:r>
            <a:br/>
            <a:r>
              <a:t>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Gemini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Calibri"/>
              </a:defRPr>
            </a:pPr>
            <a:r>
              <a:t>Financial analysts spend 60-70% of their time on manual data gathering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Reading 100+ page SEC filings (10-K, 10-Q, 8-K) manually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Cross-referencing data across multiple sources and formats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Extracting tables, charts, and metrics from unstructured PDFs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Monitoring news sentiment across dozens of holdings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Creating consistent, comprehensive investment reports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Staying updated on market movements and risk factors in real-time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2011680"/>
            <a:ext cx="30175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0" y="205740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210312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of analyst time</a:t>
            </a:r>
            <a:br/>
            <a:r>
              <a:t>wasted on data</a:t>
            </a:r>
            <a:br/>
            <a:r>
              <a:t>gathering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3383280"/>
            <a:ext cx="30175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0" y="342900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100+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347472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pages per SEC</a:t>
            </a:r>
            <a:br/>
            <a:r>
              <a:t>filing to read</a:t>
            </a:r>
            <a:br/>
            <a:r>
              <a:t>manually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4754880"/>
            <a:ext cx="30175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0" y="480060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$150K+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484632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avg analyst salary</a:t>
            </a:r>
            <a:br/>
            <a:r>
              <a:t>spent on low-value</a:t>
            </a:r>
            <a:br/>
            <a:r>
              <a:t>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Calibri"/>
              </a:defRPr>
            </a:pPr>
            <a:r>
              <a:t>Result: Slower decisions, inconsistent analysis, missed opportunities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OUR SOLUTION: FINANCIAL ANALYST CO-PILOT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882F6"/>
                </a:solidFill>
                <a:latin typeface="Calibri"/>
              </a:defRPr>
            </a:pPr>
            <a:r>
              <a:t>A multi-agent AI system that delivers institutional-grade analysis in seconds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47472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82F6"/>
                </a:solidFill>
                <a:latin typeface="Calibri"/>
              </a:defRPr>
            </a:pPr>
            <a:r>
              <a:t>Chat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Ask any financial question in</a:t>
            </a:r>
            <a:br/>
            <a:r>
              <a:t>natural language. AI routes to</a:t>
            </a:r>
            <a:br/>
            <a:r>
              <a:t>the right specialist agent.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737360"/>
            <a:ext cx="347472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187451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64BA2"/>
                </a:solidFill>
                <a:latin typeface="Calibri"/>
              </a:defRPr>
            </a:pPr>
            <a:r>
              <a:t>Document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3317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Upload 10-K PDFs, earnings</a:t>
            </a:r>
            <a:br/>
            <a:r>
              <a:t>transcripts. Gemini extracts</a:t>
            </a:r>
            <a:br/>
            <a:r>
              <a:t>metrics, risks, and insights.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737360"/>
            <a:ext cx="347472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0" y="187451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Market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3317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Real-time prices, fundamentals,</a:t>
            </a:r>
            <a:br/>
            <a:r>
              <a:t>41 key metrics from Yahoo</a:t>
            </a:r>
            <a:br/>
            <a:r>
              <a:t>Finance with AI interpretation.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347472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Investment Thesis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Full buy/sell reports with</a:t>
            </a:r>
            <a:br/>
            <a:r>
              <a:t>bull/bear cases, target prices,</a:t>
            </a:r>
            <a:br/>
            <a:r>
              <a:t>and catalyst timelines.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4023360"/>
            <a:ext cx="347472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0" y="4160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Calibri"/>
              </a:defRPr>
            </a:pPr>
            <a:r>
              <a:t>Risk 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6177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Quantitative risk scoring +</a:t>
            </a:r>
            <a:br/>
            <a:r>
              <a:t>AI-powered red flag detection</a:t>
            </a:r>
            <a:br/>
            <a:r>
              <a:t>across 6 risk categories.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023360"/>
            <a:ext cx="347472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4160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Sentiment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6177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News headline scoring,</a:t>
            </a:r>
            <a:br/>
            <a:r>
              <a:t>earnings call tone analysis,</a:t>
            </a:r>
            <a:br/>
            <a:r>
              <a:t>custom text sentiment.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914400"/>
            <a:ext cx="5760720" cy="640080"/>
          </a:xfrm>
          <a:prstGeom prst="round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STREAMLIT FRONTEND  (8 Pages: Dashboard, Chat, Analysis, Thesis, ...)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1554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     |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920240"/>
            <a:ext cx="7589520" cy="82296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ORCHESTRATOR AGENT</a:t>
            </a:r>
            <a:br/>
            <a:r>
              <a:t>Ticker Extraction (Gemini) --&gt; Intent Classification (Gemini) --&gt; Route to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     |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108960"/>
            <a:ext cx="1920240" cy="9144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Market</a:t>
            </a:r>
            <a:br/>
            <a:r>
              <a:t>Data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3108960"/>
            <a:ext cx="1920240" cy="914400"/>
          </a:xfrm>
          <a:prstGeom prst="round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Document</a:t>
            </a:r>
            <a:br/>
            <a:r>
              <a:t>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3108960"/>
            <a:ext cx="1920240" cy="9144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Sentiment</a:t>
            </a:r>
            <a:br/>
            <a:r>
              <a:t>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3108960"/>
            <a:ext cx="1920240" cy="9144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Risk</a:t>
            </a:r>
            <a:br/>
            <a:r>
              <a:t>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59" y="3108960"/>
            <a:ext cx="1920240" cy="914400"/>
          </a:xfrm>
          <a:prstGeom prst="round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Report</a:t>
            </a:r>
            <a:br/>
            <a: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4023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     |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389120"/>
            <a:ext cx="47548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DATA PROVIDERS</a:t>
            </a:r>
            <a:br/>
            <a:r>
              <a:t>Yahoo Finance  |  SEC EDGAR  |  XBRL Facts  |  News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389120"/>
            <a:ext cx="47548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GEMINI 2.0 FLASH API</a:t>
            </a:r>
            <a:br/>
            <a:r>
              <a:t>Text Gen  |  PDF Analysis  |  Chat  |  Retry + Backoff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All agents share a singleton GeminiClient with exponential backoff (4 retries) and PDF text fallback via PyPDF2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AGENTIC FLOW: HOW A QUERY IS PROCESSED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737360" cy="457200"/>
          </a:xfrm>
          <a:prstGeom prst="round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USER 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173736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Calibri"/>
              </a:defRPr>
            </a:pPr>
            <a:r>
              <a:t>"Generate investment</a:t>
            </a:r>
            <a:br/>
            <a:r>
              <a:t>thesis for Tesla"</a:t>
            </a:r>
          </a:p>
        </p:txBody>
      </p:sp>
      <p:sp>
        <p:nvSpPr>
          <p:cNvPr id="6" name="Oval 5"/>
          <p:cNvSpPr/>
          <p:nvPr/>
        </p:nvSpPr>
        <p:spPr>
          <a:xfrm>
            <a:off x="1143000" y="640080"/>
            <a:ext cx="365760" cy="365760"/>
          </a:xfrm>
          <a:prstGeom prst="ellipse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097280"/>
            <a:ext cx="173736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EXTRACT TICKERS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645920"/>
            <a:ext cx="173736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68880" y="169164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Calibri"/>
              </a:defRPr>
            </a:pPr>
            <a:r>
              <a:t>Gemini LLM call</a:t>
            </a:r>
            <a:br/>
            <a:r>
              <a:t>--&gt; TSLA</a:t>
            </a:r>
          </a:p>
        </p:txBody>
      </p:sp>
      <p:sp>
        <p:nvSpPr>
          <p:cNvPr id="10" name="Oval 9"/>
          <p:cNvSpPr/>
          <p:nvPr/>
        </p:nvSpPr>
        <p:spPr>
          <a:xfrm>
            <a:off x="3063240" y="64008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097280"/>
            <a:ext cx="173736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CLASSIFY INTENT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45920"/>
            <a:ext cx="173736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69164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Calibri"/>
              </a:defRPr>
            </a:pPr>
            <a:r>
              <a:t>Gemini LLM call</a:t>
            </a:r>
            <a:br/>
            <a:r>
              <a:t>--&gt; INVESTMENT_THESIS</a:t>
            </a:r>
          </a:p>
        </p:txBody>
      </p:sp>
      <p:sp>
        <p:nvSpPr>
          <p:cNvPr id="14" name="Oval 13"/>
          <p:cNvSpPr/>
          <p:nvPr/>
        </p:nvSpPr>
        <p:spPr>
          <a:xfrm>
            <a:off x="4983480" y="64008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097280"/>
            <a:ext cx="1737360" cy="457200"/>
          </a:xfrm>
          <a:prstGeom prst="round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ROUTE TO 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45920"/>
            <a:ext cx="173736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59" y="169164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Calibri"/>
              </a:defRPr>
            </a:pPr>
            <a:r>
              <a:t>ReportAgent.</a:t>
            </a:r>
            <a:br/>
            <a:r>
              <a:t>generate_investment_</a:t>
            </a:r>
            <a:br/>
            <a:r>
              <a:t>thesis("TSLA")</a:t>
            </a:r>
          </a:p>
        </p:txBody>
      </p:sp>
      <p:sp>
        <p:nvSpPr>
          <p:cNvPr id="18" name="Oval 17"/>
          <p:cNvSpPr/>
          <p:nvPr/>
        </p:nvSpPr>
        <p:spPr>
          <a:xfrm>
            <a:off x="6903720" y="640080"/>
            <a:ext cx="365760" cy="365760"/>
          </a:xfrm>
          <a:prstGeom prst="ellipse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097280"/>
            <a:ext cx="1737360" cy="4572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FETCH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645920"/>
            <a:ext cx="173736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169164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Calibri"/>
              </a:defRPr>
            </a:pPr>
            <a:r>
              <a:t>Yahoo Finance: 41 metrics</a:t>
            </a:r>
            <a:br/>
            <a:r>
              <a:t>Yahoo News: 8 headlines</a:t>
            </a:r>
          </a:p>
        </p:txBody>
      </p:sp>
      <p:sp>
        <p:nvSpPr>
          <p:cNvPr id="22" name="Oval 21"/>
          <p:cNvSpPr/>
          <p:nvPr/>
        </p:nvSpPr>
        <p:spPr>
          <a:xfrm>
            <a:off x="8823960" y="640080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1097280"/>
            <a:ext cx="1737360" cy="4572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AI ANALYSIS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1645920"/>
            <a:ext cx="173736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49840" y="169164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Calibri"/>
              </a:defRPr>
            </a:pPr>
            <a:r>
              <a:t>Gemini generates</a:t>
            </a:r>
            <a:br/>
            <a:r>
              <a:t>structured thesis</a:t>
            </a:r>
            <a:br/>
            <a:r>
              <a:t>with bull/bear cases</a:t>
            </a:r>
          </a:p>
        </p:txBody>
      </p:sp>
      <p:sp>
        <p:nvSpPr>
          <p:cNvPr id="26" name="Oval 25"/>
          <p:cNvSpPr/>
          <p:nvPr/>
        </p:nvSpPr>
        <p:spPr>
          <a:xfrm>
            <a:off x="10744200" y="640080"/>
            <a:ext cx="365760" cy="3657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1143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  <a:r>
              <a:t>--&gt;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1143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  <a:r>
              <a:t>--&gt;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1143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  <a:r>
              <a:t>--&gt;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1143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  <a:r>
              <a:t>--&gt;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1143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  <a:r>
              <a:t>--&gt;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INTENT ROUTING MAP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749039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INVESTMENT_THESIS  --&gt;  ReportAgent.generate_investment_thesis()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PEER_COMPARISON    --&gt;  ReportAgent.generate_comparison_report()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RISK_ASSESSMENT    --&gt;  RiskAgent.comprehensive_risk_analysis()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SENTIMENT          --&gt;  SentimentAgent.analyze_sentiment()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749039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EARNINGS           --&gt;  ReportAgent.generate_earnings_analysis()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DOCUMENT_ANALYSIS  --&gt;  DocumentAgent.analyze_filing_with_ai()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MARKET_ANALYSIS    --&gt;  MarketDataAgent.analyze_with_ai()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GENERAL            --&gt;  GeminiClient.generate() (direct)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Total Gemini calls per query: 2-3  (ticker extraction + intent classification + specialist analysis)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2788920" cy="457200"/>
          </a:xfrm>
          <a:prstGeom prst="round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AI /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79" y="1691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Gemini 2.0 Flash - primary reasoning &amp;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79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Multimodal PDF analysis (charts + tables)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2697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System instructions per agent persona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Exponential backoff retry (4 attempts)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097280"/>
            <a:ext cx="27889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Data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79" y="1691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Yahoo Finance - prices, fundamentals, 41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9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SEC EDGAR - filings, XBRL structured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79" y="2697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Yahoo News - real-time headlines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79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PyPDF2 - local PDF text extraction fallback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097280"/>
            <a:ext cx="2788920" cy="457200"/>
          </a:xfrm>
          <a:prstGeom prst="round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91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Streamlit - 8-page interactive web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Plotly - candlestick &amp; comparison charts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97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Custom CSS - professional dark/light theme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Session state navigation &amp; caching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097280"/>
            <a:ext cx="278892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1691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Multi-agent orchestrator pattern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Singleton GeminiClient with retry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697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Intent classification routing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Modular agents/ and utils/ packages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840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Python 3.11  |  google-generativeai  |  yfinance  |  streamlit  |  plotly  |  pandas  |  requests  |  PyPDF2  |  beautifulsoup4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PROJECT 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463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main.py                  -- Streamlit entry (8 pages, ~950 lines)</a:t>
            </a:r>
          </a:p>
          <a:p>
            <a:pPr>
              <a:spcAft>
                <a:spcPts val="3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agents/orchestrator.py   -- Intent routing &amp; multi-agent coordination</a:t>
            </a:r>
          </a:p>
          <a:p>
            <a:pPr>
              <a:spcAft>
                <a:spcPts val="3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agents/market_agent.py   -- Yahoo Finance data + Gemini analysis</a:t>
            </a:r>
          </a:p>
          <a:p>
            <a:pPr>
              <a:spcAft>
                <a:spcPts val="3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agents/document_agent.py -- SEC EDGAR + XBRL + PDF upload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8463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agents/sentiment_agent.py -- News sentiment scoring</a:t>
            </a:r>
          </a:p>
          <a:p>
            <a:pPr>
              <a:spcAft>
                <a:spcPts val="3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agents/risk_agent.py      -- Quantitative risk + AI assessment</a:t>
            </a:r>
          </a:p>
          <a:p>
            <a:pPr>
              <a:spcAft>
                <a:spcPts val="3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agents/report_agent.py    -- Thesis &amp; report generation</a:t>
            </a:r>
          </a:p>
          <a:p>
            <a:pPr>
              <a:spcAft>
                <a:spcPts val="3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utils/gemini_client.py    -- Singleton API client w/ retry</a:t>
            </a:r>
          </a:p>
          <a:p>
            <a:pPr>
              <a:spcAft>
                <a:spcPts val="3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utils/data_providers.py   -- SEC EDGAR + yfinance wrappers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FEATURES &amp; IMPLEMENTATION HIGHLIGHTS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91440" cy="640080"/>
          </a:xfrm>
          <a:prstGeom prst="round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82F6"/>
                </a:solidFill>
                <a:latin typeface="Calibri"/>
              </a:defRPr>
            </a:pPr>
            <a:r>
              <a:t>Intelligent Query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Orchestrator uses 2 Gemini calls to extract tickers and classify intent into 8 categories, then routes to the right specialist agent automatically. No manual selection needed.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9144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Real-Time Market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41 financial metrics per company from Yahoo Finance with 3x retry logic. Handles transient API failures gracefully. Data includes valuation, profitability, growth, and analyst consensus.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43200"/>
            <a:ext cx="91440" cy="640080"/>
          </a:xfrm>
          <a:prstGeom prst="round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64BA2"/>
                </a:solidFill>
                <a:latin typeface="Calibri"/>
              </a:defRPr>
            </a:pPr>
            <a:r>
              <a:t>SEC Filing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632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Fetches XBRL structured data directly from SEC EDGAR. Extracts 3-year trends for revenue, net income, EPS, assets, liabilities, and cash flow. No manual download required.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11880"/>
            <a:ext cx="9144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611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Multimodal Document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Upload any financial PDF (10-K, earnings). Primary: Gemini File Upload API for chart understanding. Fallback: PyPDF2 local text extraction when rate-limited (429). Handles 100+ page documents.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480560"/>
            <a:ext cx="91440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Calibri"/>
              </a:defRPr>
            </a:pPr>
            <a:r>
              <a:t>Professional Report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Investment thesis with exec summary, financial analysis, valuation, bull/bear cases with target prices, catalysts, risk factors, and recommendation. Downloadable as markdown.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349240"/>
            <a:ext cx="91440" cy="6400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349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Calibri"/>
              </a:defRPr>
            </a:pPr>
            <a:r>
              <a:t>Resilient API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t>Singleton GeminiClient with exponential backoff (2s, 3s, 5s, 9s). Handles 429/503 errors. yfinance retry with meaningful-key validation. Never crashes on transient failures.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USE CASES &amp; TARGET USERS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743200" cy="1097280"/>
          </a:xfrm>
          <a:prstGeom prst="round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Individual Investors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11887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"Generate an investment thesis for Tesla"</a:t>
            </a:r>
            <a:br/>
            <a:r>
              <a:t>Gets professional-grade report with bull/bear cases in 30 seconds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1280160"/>
            <a:ext cx="256032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882F6"/>
                </a:solidFill>
                <a:latin typeface="Calibri"/>
              </a:defRPr>
            </a:pPr>
            <a:r>
              <a:t>10x faster research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39"/>
            <a:ext cx="2743200" cy="10972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Financial Analysts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468879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"Compare NVDA, AMD, and INTC valuations"</a:t>
            </a:r>
            <a:br/>
            <a:r>
              <a:t>Side-by-side metrics, charts, and AI-powered comparison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2560320"/>
            <a:ext cx="256032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60% time savings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657599"/>
            <a:ext cx="2743200" cy="10972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Risk Managers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749039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"What are the main risk factors for TSLA?"</a:t>
            </a:r>
            <a:br/>
            <a:r>
              <a:t>Quantitative scorecard + AI assessment across 6 risk categories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3840479"/>
            <a:ext cx="256032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EF4444"/>
                </a:solidFill>
                <a:latin typeface="Calibri"/>
              </a:defRPr>
            </a:pPr>
            <a:r>
              <a:t>Reduced oversight gaps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937759"/>
            <a:ext cx="2743200" cy="10972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Portfolio Managers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5029199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"Analyze sentiment for AAPL this week"</a:t>
            </a:r>
            <a:br/>
            <a:r>
              <a:t>News sentiment scoring with bullish/bearish breakdown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5120640"/>
            <a:ext cx="256032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Better informed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82F6"/>
                </a:solidFill>
                <a:latin typeface="Calibri"/>
              </a:defRPr>
            </a:pPr>
            <a:r>
              <a:t>Democratizing institutional-grade analysis -- making Wall Street tools accessible to everyone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LIVE DEMO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2F6"/>
                </a:solidFill>
                <a:latin typeface="Calibri"/>
              </a:defRPr>
            </a:pPr>
            <a:r>
              <a:t>Demo 1: Company Deep-Dive (2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  Enter AAPL in Company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  Show key metric cards, price chart, valuation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  Generate AI analysis with one click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  Show SEC filing list auto-fetched from EDGAR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Demo 2: Peer Comparison (2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  Compare NVDA, AMD, INTC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  Side-by-side metrics table + bar charts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918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  AI-generated comparative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566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  Highlight which company is best positioned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490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64BA2"/>
                </a:solidFill>
                <a:latin typeface="Calibri"/>
              </a:defRPr>
            </a:pPr>
            <a:r>
              <a:t>Demo 3: Investment Thesis (2 min)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114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  Generate thesis for MSFT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389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  Show progress bar through analysis stages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663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  Full report: Exec Summary, Bull/Bear, Catalysts, Risks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937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  Download report as markdown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Demo 4: Chat &amp; Risk (2 min)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86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  Ask: "What are the risk factors for Tesla?"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760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  Show orchestrator routing to Risk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035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  Quantitative risk scorecard + AI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6309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  Show sentiment analysis for NVDA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IMPACT &amp; COMPETITIVE 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WHY THIS STANDS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Multi-agent architecture -- not a single-prompt chatbot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Real data from SEC EDGAR + Yahoo Finance (not hallucinated)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Intelligent routing -- Gemini classifies intent before acting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Resilient design -- retry logic, fallbacks, graceful degradation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Professional output -- institutional-quality reports, not snippets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Multimodal -- processes PDFs with charts and tables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8 interactive pages -- full-featured app, not just a chat window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Runs locally with one command: streamlit run main.py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05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QUANTIFIED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45920"/>
            <a:ext cx="210312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0" y="1691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82F6"/>
                </a:solidFill>
                <a:latin typeface="Calibri"/>
              </a:defRPr>
            </a:pPr>
            <a:r>
              <a:t>10x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7830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Faster</a:t>
            </a:r>
            <a:br/>
            <a:r>
              <a:t>Research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1645920"/>
            <a:ext cx="210312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52559" y="1691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0B981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59" y="17830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Time</a:t>
            </a:r>
            <a:br/>
            <a:r>
              <a:t>Saved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834640"/>
            <a:ext cx="210312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0" y="2880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64BA2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9718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Specialized</a:t>
            </a:r>
            <a:br/>
            <a:r>
              <a:t>AI 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2834640"/>
            <a:ext cx="210312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52559" y="2880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9E0B"/>
                </a:solidFill>
                <a:latin typeface="Calibri"/>
              </a:defRPr>
            </a:pPr>
            <a:r>
              <a:t>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59" y="29718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Financial</a:t>
            </a:r>
            <a:br/>
            <a:r>
              <a:t>Metrics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572000"/>
            <a:ext cx="5029200" cy="1280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2F6"/>
                </a:solidFill>
                <a:latin typeface="Calibri"/>
              </a:defRPr>
            </a:pPr>
            <a:r>
              <a:t>GEMINI 2.0 FLASH USAGE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0292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Ticker extraction from natural language queries</a:t>
            </a:r>
          </a:p>
          <a:p>
            <a:pPr>
              <a:spcAft>
                <a:spcPts val="2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Intent classification (8 categories)</a:t>
            </a:r>
          </a:p>
          <a:p>
            <a:pPr>
              <a:spcAft>
                <a:spcPts val="2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Financial analysis with real-time data context</a:t>
            </a:r>
          </a:p>
          <a:p>
            <a:pPr>
              <a:spcAft>
                <a:spcPts val="2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Multimodal PDF document understanding</a:t>
            </a:r>
          </a:p>
          <a:p>
            <a:pPr>
              <a:spcAft>
                <a:spcPts val="200"/>
              </a:spcAft>
              <a:defRPr sz="1100">
                <a:solidFill>
                  <a:srgbClr val="F1F5F9"/>
                </a:solidFill>
                <a:latin typeface="Calibri"/>
              </a:defRPr>
            </a:pPr>
            <a:r>
              <a:t>6 specialized agent personas via system instructions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LESSONS LEARNED &amp; CHALLENGES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9144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Rate Limiting is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Calibri"/>
              </a:defRPr>
            </a:pPr>
            <a:r>
              <a:t>Gemini's 429 errors required exponential backoff with 4 retries. For document analysis, we built a PyPDF2 text-extraction fallback so the app never fails completely.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91440" cy="594360"/>
          </a:xfrm>
          <a:prstGeom prst="round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82F6"/>
                </a:solidFill>
                <a:latin typeface="Calibri"/>
              </a:defRPr>
            </a:pPr>
            <a:r>
              <a:t>Agent Personas Matter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Calibri"/>
              </a:defRPr>
            </a:pPr>
            <a:r>
              <a:t>Each agent has a carefully crafted system instruction. A generic prompt produces generic output -- specialized personas ("You are an expert risk analyst") dramatically improved quality and consistency.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9144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Real Data &gt; Simulated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79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Calibri"/>
              </a:defRPr>
            </a:pPr>
            <a:r>
              <a:t>Using live Yahoo Finance and SEC EDGAR APIs makes the demo compelling but adds complexity. yfinance sometimes returns error dicts -- we added 3x retry with meaningful-key validation to handle transient failures.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74720"/>
            <a:ext cx="91440" cy="594360"/>
          </a:xfrm>
          <a:prstGeom prst="round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64BA2"/>
                </a:solidFill>
                <a:latin typeface="Calibri"/>
              </a:defRPr>
            </a:pPr>
            <a:r>
              <a:t>Streamlit State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49039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Calibri"/>
              </a:defRPr>
            </a:pPr>
            <a:r>
              <a:t>Navigating between pages via buttons requires careful session state handling. Streamlit prevents modifying widget keys after instantiation -- solved with a pre-render target_page pattern.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97680"/>
            <a:ext cx="9144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Context Window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720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Calibri"/>
              </a:defRPr>
            </a:pPr>
            <a:r>
              <a:t>SEC XBRL data can be massive. We extract only the 13 most important GAAP metrics and limit to 3 years of history. PDF fallback truncates to 60K characters. Quality of context &gt; quantity.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20640"/>
            <a:ext cx="91440" cy="5943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120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Structured Prompts Win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949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Calibri"/>
              </a:defRPr>
            </a:pPr>
            <a:r>
              <a:t>Providing real data in a structured format (labeled sections with specific metrics) and asking for structured output (numbered sections, tables) produces far better results than open-ended prompts.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FUTURE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34747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NOW:  Hackathon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  6 agents with Gemini 2.0 Flash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299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  SEC EDGAR + Yahoo Finance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140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  8-page Streamlit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9806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  Investment thesis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821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  PDF multimodal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005840"/>
            <a:ext cx="3474720" cy="457200"/>
          </a:xfrm>
          <a:prstGeom prst="round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NEXT:  Enhanced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  Google Cloud Run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299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  Firestore for session persistence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4140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  BigQuery for analytics warehouse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79806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  Alpha Vantage + FRED API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1821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  Parallel agent execution (asyncio)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005840"/>
            <a:ext cx="3474720" cy="457200"/>
          </a:xfrm>
          <a:prstGeom prst="round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FUTURE:  Production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  Google A2A protocol for true multi-agent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299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  Real-time alerts via Pub/Sub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140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  Document AI for advanced PDF parsing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79806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  Portfolio tracking &amp; watchlist alerts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1821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  Mobile-responsive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BUSINESS POTENTIAL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Market Opportunity: Financial data &amp; analytics market projected at $19B by 2028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Target: 50M+ retail investors in the US alone who lack institutional-grade tools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Monetization: Freemium model -- basic analysis free, advanced thesis &amp; alerts premium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Cost: ~$0.02 per analysis (3 Gemini API calls) -- highly scalable unit economics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FINANCIAL ANALYST CO-PILOT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920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882F6"/>
                </a:solidFill>
                <a:latin typeface="Calibri"/>
              </a:defRPr>
            </a:pPr>
            <a:r>
              <a:t>Institutional-Grade Analysis, Powered by Gemini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743200"/>
            <a:ext cx="3931920" cy="36576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828800" y="3200400"/>
            <a:ext cx="2011680" cy="640080"/>
          </a:xfrm>
          <a:prstGeom prst="round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6 AI Agents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3200400"/>
            <a:ext cx="201168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8 Interactive Pages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200400"/>
            <a:ext cx="2011680" cy="640080"/>
          </a:xfrm>
          <a:prstGeom prst="round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Real-Time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3200400"/>
            <a:ext cx="201168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30-Second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38912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hlinkClick r:id="rId2"/>
              </a:rPr>
              <a:t>https://financial-co-pilot--source-579861796088.us-west2.run.app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882F6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1866</Words>
  <Application>Microsoft Macintosh PowerPoint</Application>
  <PresentationFormat>Widescreen</PresentationFormat>
  <Paragraphs>236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Sampann Nigam (sanigam)</cp:lastModifiedBy>
  <cp:revision>3</cp:revision>
  <dcterms:created xsi:type="dcterms:W3CDTF">2013-01-27T09:14:16Z</dcterms:created>
  <dcterms:modified xsi:type="dcterms:W3CDTF">2026-02-08T20:07:58Z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Cisco Confidential</vt:lpwstr>
  </property>
</Properties>
</file>